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8.xml" ContentType="application/vnd.openxmlformats-officedocument.presentationml.slideMaster+xml"/>
  <Override PartName="/ppt/theme/theme10.xml" ContentType="application/vnd.openxmlformats-officedocument.theme+xml"/>
  <Override PartName="/ppt/theme/theme17.xml" ContentType="application/vnd.openxmlformats-officedocument.theme+xml"/>
  <Override PartName="/ppt/theme/theme7.xml" ContentType="application/vnd.openxmlformats-officedocument.theme+xml"/>
  <Override PartName="/ppt/theme/theme5.xml" ContentType="application/vnd.openxmlformats-officedocument.theme+xml"/>
  <Override PartName="/ppt/theme/theme16.xml" ContentType="application/vnd.openxmlformats-officedocument.theme+xml"/>
  <Override PartName="/ppt/theme/theme2.xml" ContentType="application/vnd.openxmlformats-officedocument.theme+xml"/>
  <Override PartName="/ppt/theme/theme15.xml" ContentType="application/vnd.openxmlformats-officedocument.theme+xml"/>
  <Override PartName="/ppt/theme/theme8.xml" ContentType="application/vnd.openxmlformats-officedocument.theme+xml"/>
  <Override PartName="/ppt/theme/theme14.xml" ContentType="application/vnd.openxmlformats-officedocument.theme+xml"/>
  <Override PartName="/ppt/theme/theme13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9.xml" ContentType="application/vnd.openxmlformats-officedocument.theme+xml"/>
  <Override PartName="/ppt/theme/theme4.xml" ContentType="application/vnd.openxmlformats-officedocument.theme+xml"/>
  <Override PartName="/ppt/theme/theme6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8" r:id="rId12"/>
    <p:sldMasterId id="2147483669" r:id="rId13"/>
    <p:sldMasterId id="2147483670" r:id="rId14"/>
    <p:sldMasterId id="2147483671" r:id="rId15"/>
    <p:sldMasterId id="2147483672" r:id="rId16"/>
    <p:sldMasterId id="2147483673" r:id="rId17"/>
  </p:sldMasterIdLst>
  <p:notesMasterIdLst>
    <p:notesMasterId r:id="rId18"/>
  </p:notes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notesMaster" Target="notesMasters/notesMaster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r" defTabSz="457200"/>
            <a:r>
              <a:rPr lang="en-US" sz="5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move the slide</a:t>
            </a:r>
            <a:endParaRPr lang="en-US" sz="5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PlaceHolder 4"/>
          <p:cNvSpPr>
            <a:spLocks noGrp="1"/>
          </p:cNvSpPr>
          <p:nvPr>
            <p:ph type="dt" idx="49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PlaceHolder 5"/>
          <p:cNvSpPr>
            <a:spLocks noGrp="1"/>
          </p:cNvSpPr>
          <p:nvPr>
            <p:ph type="ftr" idx="50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PlaceHolder 6"/>
          <p:cNvSpPr>
            <a:spLocks noGrp="1"/>
          </p:cNvSpPr>
          <p:nvPr>
            <p:ph type="sldNum" idx="51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34FD13D-73F6-4430-AF47-CD8D6F217EB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CCF0F6-34CD-4030-A890-426AA04288F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6BCADE-3FE9-4E05-88C5-EC8F98E76D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AD4A9B-2D3C-4FF1-8225-A063290E0A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465EAC-0702-4BF9-B8A4-06D743BD3C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A4F0C81-4548-47F2-BD7B-5D6A42C1D7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9D74F54-C589-4A19-9678-FE85446A6C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0D017A2-929D-4E4F-B26B-0DBEEA3133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F97403F-ECF9-42E1-BD28-81B63C8E4D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15AAEDE-63B0-4452-A418-8B1E46451F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B7423A4-A27D-465B-A032-84486291EA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457200">
              <a:buNone/>
            </a:pP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1001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CB95F6F-4EEE-40F1-9AD4-EF12BEB72A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7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8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9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" name="Group 6"/>
          <p:cNvGrpSpPr/>
          <p:nvPr/>
        </p:nvGrpSpPr>
        <p:grpSpPr>
          <a:xfrm>
            <a:off x="360" y="-8640"/>
            <a:ext cx="12191400" cy="6866640"/>
            <a:chOff x="360" y="-8640"/>
            <a:chExt cx="12191400" cy="6866640"/>
          </a:xfrm>
        </p:grpSpPr>
        <p:cxnSp>
          <p:nvCxnSpPr>
            <p:cNvPr id="14" name="Straight Connector 31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15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16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Isosceles Triangle 26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Isosceles Triangle 30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Isosceles Triangle 18"/>
            <p:cNvSpPr/>
            <p:nvPr/>
          </p:nvSpPr>
          <p:spPr>
            <a:xfrm rot="10800000">
              <a:off x="360" y="360"/>
              <a:ext cx="842400" cy="566568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506960" y="2404440"/>
            <a:ext cx="7766640" cy="164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5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5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5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dt" idx="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sldNum" idx="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2D7C5F7-B019-43BA-9ABB-A0F9CFC67D52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4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35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36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340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440" cy="157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754EAD2-628B-4E7B-A721-4ACA0FACA557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5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5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5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880" cy="302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1366200" y="3632040"/>
            <a:ext cx="722412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440" cy="157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7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8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9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636EDA-FA9E-4100-B051-20CEA4A4F9A0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TextBox 19"/>
          <p:cNvSpPr/>
          <p:nvPr/>
        </p:nvSpPr>
        <p:spPr>
          <a:xfrm>
            <a:off x="541800" y="790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21"/>
          <p:cNvSpPr/>
          <p:nvPr/>
        </p:nvSpPr>
        <p:spPr>
          <a:xfrm>
            <a:off x="8893080" y="28864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7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7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7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77160" y="1932120"/>
            <a:ext cx="8596440" cy="259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dt" idx="10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ftr" idx="11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sldNum" idx="12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BAD76E-A626-441F-A458-C6A1DA8E550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91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92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9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880" cy="302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440" cy="5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dt" idx="13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 type="ftr" idx="1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6"/>
          <p:cNvSpPr>
            <a:spLocks noGrp="1"/>
          </p:cNvSpPr>
          <p:nvPr>
            <p:ph type="sldNum" idx="1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B2672EC-6A67-4513-B19A-B686AA582D58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TextBox 23"/>
          <p:cNvSpPr/>
          <p:nvPr/>
        </p:nvSpPr>
        <p:spPr>
          <a:xfrm>
            <a:off x="541800" y="790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24"/>
          <p:cNvSpPr/>
          <p:nvPr/>
        </p:nvSpPr>
        <p:spPr>
          <a:xfrm>
            <a:off x="8893080" y="28864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1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11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11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8587800" cy="302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440" cy="5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dt" idx="16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 type="ftr" idx="17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 type="sldNum" idx="18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12F5A7-75B1-47A8-9DC9-6C7A7B731BEA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31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132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13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dt" idx="19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ftr" idx="20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PlaceHolder 5"/>
          <p:cNvSpPr>
            <a:spLocks noGrp="1"/>
          </p:cNvSpPr>
          <p:nvPr>
            <p:ph type="sldNum" idx="21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10E2CF-CD25-442F-AA99-C3867147F3BB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49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150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151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7967520" y="609480"/>
            <a:ext cx="1304280" cy="52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 vert="eaVer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7059960" cy="52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dt" idx="22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 type="ftr" idx="23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 type="sldNum" idx="24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8BF9B8-93EC-4577-BC03-97290CA71ABD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67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168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169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dt" idx="25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ftr" idx="26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PlaceHolder 5"/>
          <p:cNvSpPr>
            <a:spLocks noGrp="1"/>
          </p:cNvSpPr>
          <p:nvPr>
            <p:ph type="sldNum" idx="27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A36C2D-8BB6-4A58-8FE1-D88286E33A6C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85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186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187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77160" y="2700720"/>
            <a:ext cx="8596440" cy="182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0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86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dt" idx="28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ftr" idx="29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 type="sldNum" idx="30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A5350E-066C-4534-84B8-BA18CCF0ED66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01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202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20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8356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body"/>
          </p:nvPr>
        </p:nvSpPr>
        <p:spPr>
          <a:xfrm>
            <a:off x="5090040" y="2160720"/>
            <a:ext cx="418356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dt" idx="3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ftr" idx="3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PlaceHolder 6"/>
          <p:cNvSpPr>
            <a:spLocks noGrp="1"/>
          </p:cNvSpPr>
          <p:nvPr>
            <p:ph type="sldNum" idx="3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2D0524D-15F0-4AC7-9505-E055ECCD2B1F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18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219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220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75720" y="2161080"/>
            <a:ext cx="41853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body"/>
          </p:nvPr>
        </p:nvSpPr>
        <p:spPr>
          <a:xfrm>
            <a:off x="675720" y="2737080"/>
            <a:ext cx="4185360" cy="330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body"/>
          </p:nvPr>
        </p:nvSpPr>
        <p:spPr>
          <a:xfrm>
            <a:off x="5088240" y="2161080"/>
            <a:ext cx="41853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 type="body"/>
          </p:nvPr>
        </p:nvSpPr>
        <p:spPr>
          <a:xfrm>
            <a:off x="5088240" y="2737080"/>
            <a:ext cx="4185360" cy="330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33" name="PlaceHolder 6"/>
          <p:cNvSpPr>
            <a:spLocks noGrp="1"/>
          </p:cNvSpPr>
          <p:nvPr>
            <p:ph type="dt" idx="3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PlaceHolder 7"/>
          <p:cNvSpPr>
            <a:spLocks noGrp="1"/>
          </p:cNvSpPr>
          <p:nvPr>
            <p:ph type="ftr" idx="3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PlaceHolder 8"/>
          <p:cNvSpPr>
            <a:spLocks noGrp="1"/>
          </p:cNvSpPr>
          <p:nvPr>
            <p:ph type="sldNum" idx="3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526982-46FF-4CD2-AB28-F614626830F1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37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238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239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dt" idx="37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ftr" idx="38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 type="sldNum" idx="39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20FCC8-574D-4B8A-84DD-7DD9AE218188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5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25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25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2" name="PlaceHolder 1"/>
          <p:cNvSpPr>
            <a:spLocks noGrp="1"/>
          </p:cNvSpPr>
          <p:nvPr>
            <p:ph type="dt" idx="40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ftr" idx="41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42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4AB1E13-63D6-4AB2-B386-1EB688662F82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6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68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269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270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677160" y="1498680"/>
            <a:ext cx="3854160" cy="127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0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4760640" y="514800"/>
            <a:ext cx="4513320" cy="552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body"/>
          </p:nvPr>
        </p:nvSpPr>
        <p:spPr>
          <a:xfrm>
            <a:off x="677160" y="2777040"/>
            <a:ext cx="3854160" cy="258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81" name="PlaceHolder 4"/>
          <p:cNvSpPr>
            <a:spLocks noGrp="1"/>
          </p:cNvSpPr>
          <p:nvPr>
            <p:ph type="dt" idx="43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PlaceHolder 5"/>
          <p:cNvSpPr>
            <a:spLocks noGrp="1"/>
          </p:cNvSpPr>
          <p:nvPr>
            <p:ph type="ftr" idx="4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PlaceHolder 6"/>
          <p:cNvSpPr>
            <a:spLocks noGrp="1"/>
          </p:cNvSpPr>
          <p:nvPr>
            <p:ph type="sldNum" idx="4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133508-5FC6-4ACE-9846-7610B0BF8068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85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360">
              <a:solidFill>
                <a:schemeClr val="lt1">
                  <a:lumMod val="75000"/>
                </a:schemeClr>
              </a:solidFill>
              <a:round/>
            </a:ln>
          </p:spPr>
        </p:cxnSp>
        <p:cxnSp>
          <p:nvCxnSpPr>
            <p:cNvPr id="286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360">
              <a:solidFill>
                <a:schemeClr val="lt1">
                  <a:lumMod val="85000"/>
                </a:schemeClr>
              </a:solidFill>
              <a:round/>
            </a:ln>
          </p:spPr>
        </p:cxnSp>
        <p:sp>
          <p:nvSpPr>
            <p:cNvPr id="287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4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dist="25560" dir="5400000" blurRad="381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677160" y="4800600"/>
            <a:ext cx="85964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def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8596440" cy="384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body"/>
          </p:nvPr>
        </p:nvSpPr>
        <p:spPr>
          <a:xfrm>
            <a:off x="677160" y="5367240"/>
            <a:ext cx="8596440" cy="67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98" name="PlaceHolder 4"/>
          <p:cNvSpPr>
            <a:spLocks noGrp="1"/>
          </p:cNvSpPr>
          <p:nvPr>
            <p:ph type="dt" idx="46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PlaceHolder 5"/>
          <p:cNvSpPr>
            <a:spLocks noGrp="1"/>
          </p:cNvSpPr>
          <p:nvPr>
            <p:ph type="ftr" idx="47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PlaceHolder 6"/>
          <p:cNvSpPr>
            <a:spLocks noGrp="1"/>
          </p:cNvSpPr>
          <p:nvPr>
            <p:ph type="sldNum" idx="48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6A30D8-304B-4A5C-A55A-3B034FBADA05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1449720" y="457200"/>
            <a:ext cx="7694280" cy="102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2500" lnSpcReduction="9999"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Penguide A Lightweight Local AI Agent</a:t>
            </a:r>
            <a:br>
              <a:rPr sz="3200"/>
            </a:br>
            <a:r>
              <a:rPr lang="en-US" sz="3200" b="1" u="none" strike="noStrike">
                <a:solidFill>
                  <a:srgbClr val="111111"/>
                </a:solidFill>
                <a:effectLst/>
                <a:uFillTx/>
                <a:latin typeface="Trebuchet MS"/>
              </a:rPr>
              <a:t>for Secure Linux Command Assistance</a:t>
            </a:r>
            <a:endParaRPr lang="en-US" sz="3200" b="0" u="none" strike="noStrike">
              <a:solidFill>
                <a:srgbClr val="111111"/>
              </a:solidFill>
              <a:effectLst/>
              <a:uFillTx/>
              <a:latin typeface="Trebuchet MS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 type="subTitle"/>
          </p:nvPr>
        </p:nvSpPr>
        <p:spPr>
          <a:xfrm>
            <a:off x="2539080" y="2286000"/>
            <a:ext cx="5690520" cy="283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TEAM MEMBERS :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Vinisha. K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( 620822205119 )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Thirisha. S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( 620822205115 )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Rethika. 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( 620822205086 )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Yuvasri. S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( 620822205124 )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GUIDE : MRS, Gayathri. M, AP/IT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/>
          </p:nvPr>
        </p:nvSpPr>
        <p:spPr>
          <a:xfrm>
            <a:off x="750240" y="1143000"/>
            <a:ext cx="8082000" cy="544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Beginners learning Linux and kernel concepts lack a safe, guided environment that explains commands clearly, prevents harmful execution, provides documentation-backed answers, and preserves user privacy through fully local AI-based assistance.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Existing AI-powered assistants for system interaction suffer from severalcritical limitations. Most tools are cloud-dependent, creating privacy andreliability concerns.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 Many systems execute commands without sufficient restrictions, leading to potential security risks such as privilege escalation or destructive operations.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Additionally, AI assistants often behave like conversational chatbots, producing verbose explanations instead of actionable outputs, which reduces efficiency in real system workflows.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There is a lack of lightweight, locally deployable AI agents that can safely assist with Linux command execution while maintaining strict control over system behavior.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 type="title"/>
          </p:nvPr>
        </p:nvSpPr>
        <p:spPr>
          <a:xfrm>
            <a:off x="90720" y="228960"/>
            <a:ext cx="859644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Problem Statement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90360" y="228600"/>
            <a:ext cx="859644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Objective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/>
          </p:nvPr>
        </p:nvSpPr>
        <p:spPr>
          <a:xfrm>
            <a:off x="547560" y="1017720"/>
            <a:ext cx="8596440" cy="5611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Teach Linux commands and kernel concepts through clear, beginner-friendly explanations.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Provide a safe practice environment using an allow-list shell to prevent harmful command execution.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Interpret natural-language questions and generate explanations with a single safe command when appropriate.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Ground responses using curated Linux kernel documentation (RAG-based contextual retrieval).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Support adaptive learning with “simple” and “detailed” explanation modes.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Ensure privacy by running inference locally (e.g., via Ollama) with no external data sharing.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Offer a structured CLI interface with meta-commands (help, history, clear, exit).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202320" y="0"/>
            <a:ext cx="825588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Existing System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/>
          </p:nvPr>
        </p:nvSpPr>
        <p:spPr>
          <a:xfrm>
            <a:off x="604800" y="685800"/>
            <a:ext cx="8082000" cy="274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Most existing AI assistants for system interaction operate as: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Cloud-hosted AI services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General-purpose conversational chatbots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Tools with unrestricted command execution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Examples include cloud IDE assistants and web-based AI shells.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/>
          </p:nvPr>
        </p:nvSpPr>
        <p:spPr>
          <a:xfrm>
            <a:off x="685800" y="4114800"/>
            <a:ext cx="8082000" cy="24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Dependence on internet connectivity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Exposure of system data to third-party servers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High latency and inconsistent response times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Risk of executing unsafe or privileged commands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Excessive explanations instead of direct results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16" name="Rectangle 3"/>
          <p:cNvSpPr/>
          <p:nvPr/>
        </p:nvSpPr>
        <p:spPr>
          <a:xfrm>
            <a:off x="228600" y="3240360"/>
            <a:ext cx="35017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Disadvantage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43560" y="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Proposed System :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18" name="Rectangle 4"/>
          <p:cNvSpPr/>
          <p:nvPr/>
        </p:nvSpPr>
        <p:spPr>
          <a:xfrm>
            <a:off x="184680" y="3429000"/>
            <a:ext cx="31222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Advantage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/>
          </p:nvPr>
        </p:nvSpPr>
        <p:spPr>
          <a:xfrm>
            <a:off x="558000" y="857880"/>
            <a:ext cx="8082000" cy="234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Penguide is a local AI command agent that: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Runs entirely on the user’s machine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Uses a local large language model for reasoning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Enforces strict command allowlists and policies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Executes at most one command per reques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/>
          </p:nvPr>
        </p:nvSpPr>
        <p:spPr>
          <a:xfrm>
            <a:off x="604800" y="4114800"/>
            <a:ext cx="8082000" cy="251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Complete data privacy and offline capability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Deterministic and predictable behavior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Strong security through command restrictions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Fast execution with minimal overhead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Scriptable and automation-friendly design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203400" y="152280"/>
            <a:ext cx="10312200" cy="99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SYSTEM ARCHITECTURE/FLOW DIAGRAM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pic>
        <p:nvPicPr>
          <p:cNvPr id="322" name=""/>
          <p:cNvPicPr/>
          <p:nvPr/>
        </p:nvPicPr>
        <p:blipFill>
          <a:blip r:embed="rId1"/>
          <a:stretch/>
        </p:blipFill>
        <p:spPr>
          <a:xfrm>
            <a:off x="1143000" y="1060560"/>
            <a:ext cx="8010360" cy="5340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001000" cy="91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/>
          </p:nvPr>
        </p:nvSpPr>
        <p:spPr>
          <a:xfrm>
            <a:off x="90360" y="64800"/>
            <a:ext cx="8596440" cy="62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marL="343080" indent="-34308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144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Modules :</a:t>
            </a:r>
            <a:endParaRPr lang="en-US" sz="14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indent="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25" name="Rectangle 4"/>
          <p:cNvSpPr/>
          <p:nvPr/>
        </p:nvSpPr>
        <p:spPr>
          <a:xfrm>
            <a:off x="275760" y="3599280"/>
            <a:ext cx="3031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/>
          </p:nvPr>
        </p:nvSpPr>
        <p:spPr>
          <a:xfrm>
            <a:off x="677520" y="114876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Command-Line Interface Module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Agent Reasoning Module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Policy and Security Module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Shell Execution Module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Output Management Module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1147400" cy="52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Module 1: Command-Line Interface Module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6440" cy="566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Purpose: Single entry point for the user; handles input, meta-commands, and formatted output.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Entry point: bin/penguide.py — interactive loop or one-shot query from the terminal.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Input handling: Reads natural-language questions; supports meta-commands: help, history, commands, mode simple / mode detailed, clear, exit / quit.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Teaching modes: “Simple” (short explanations) and “Detailed” (deeper explanations); switchable at runtime.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Output: Colored, boxed responses; distinct styling for explanations, executed commands, and errors; prompt label 🐧 penguide&gt;.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Special views: commands lists allowed/denied shell commands; history shows recent conversation turns.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1201400" cy="52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rebuchet MS"/>
                <a:ea typeface="Noto Sans"/>
              </a:rPr>
              <a:t>Module 2: </a:t>
            </a:r>
            <a:r>
              <a:rPr lang="en-US" sz="36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Noto Sans"/>
              </a:rPr>
              <a:t>Agent Reasoning Module</a:t>
            </a:r>
            <a:br>
              <a:rPr sz="3600"/>
            </a:br>
            <a:br>
              <a:rPr sz="3600"/>
            </a:br>
            <a:endParaRPr lang="en-US" sz="3600" b="1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6440" cy="520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Role: Turns user queries into explanations and, when appropriate, a single safe shell command; coordinates LLM, memory, and kernel documentation.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Components: Orchestrator (core/orchestrator.py), Agent (core/agent.py), Ollama client (models/ollama.py).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Context per turn: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Memory: Last N conversation turns (configurable; e.g. PENGUIDE_MEMORY_MAX_TURNS).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Knowledge: Snippets from knowledge/kernel/*.md matched to the user’s question (e.g. memory, processes).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 defTabSz="4572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Environment: Home directory and current working directory injected so the model can suggest realistic paths (~, project dir).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90200" cy="52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Module 2: Prompting and Teaching Logic</a:t>
            </a:r>
            <a:br>
              <a:rPr sz="3600"/>
            </a:b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6440" cy="429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System prompt: Defines Penguide as a beginner-friendly Linux guide; rules: one command per response, prefer safe commands, avoid inventing commands; format for actions: RUN: &lt;command&gt;.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Teaching mode: Injected as “Teaching mode: simple” or “Teaching mode: detailed”; optional per-command hints (e.g. how to explain ls, grep, ps) from configs/teaching.py.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Policy hint: Allow-list of shell commands is included so the model only suggests permitted commands.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Request flow: Full context (history + knowledge + env) + system block + user message → single non-streaming call to Ollama; response is parsed for explanation and optional RUN: line.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90200" cy="52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rebuchet MS"/>
                <a:ea typeface="Noto Sans"/>
              </a:rPr>
              <a:t>Module 2: Parsing and Fallback</a:t>
            </a:r>
            <a:br>
              <a:rPr sz="3600"/>
            </a:b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/>
          </p:nvPr>
        </p:nvSpPr>
        <p:spPr>
          <a:xfrm>
            <a:off x="685800" y="965520"/>
            <a:ext cx="8596440" cy="474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Parsing: Scan model reply for RUN: &lt;command&gt;; strip markdown (backticks, bold); use only the first line after RUN: as the command string.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When RUN: is present: Explanation = text before RUN:; command is sent to Shell Execution Module; combined output = explanation + “&gt; Executing: &amp;lt;cmd&amp;gt;” + real output.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Fallback: If the user types a line that starts with an allowed command (e.g. ls ~/workspace) and the model did not emit RUN:, the orchestrator still runs that command and appends “&gt; Executing: …” and the result to the explanation.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Outcome: Every actionable step is “explain → show command → show result,” keeping the teaching loop consistent.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90200" cy="52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rebuchet MS"/>
                <a:ea typeface="Noto Sans"/>
              </a:rPr>
              <a:t>Module 3: Policy and Security Module</a:t>
            </a:r>
            <a:br>
              <a:rPr sz="3600"/>
            </a:br>
            <a:br>
              <a:rPr sz="3600"/>
            </a:br>
            <a:endParaRPr lang="en-US" sz="3600" b="1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/>
          </p:nvPr>
        </p:nvSpPr>
        <p:spPr>
          <a:xfrm>
            <a:off x="750240" y="1194120"/>
            <a:ext cx="8596440" cy="520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Purpose: Ensure only safe, educational commands are executed; block destructive or privileged operations.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Policy source: configs/policy.py — two sets: ALLOWED_COMMANDS (e.g. ls, cat, pwd, ps, df, du, grep, find, ip, ss, nano, vim) and DENY_COMMANDS (e.g. sudo, chmod, chown, dd, mount, reboot, shutdown).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Scope: Only the first token (base command) is checked; arguments are not parsed for semantic safety.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Principle: Explicit allow-list plus deny-list; any command not allowed or explicitly denied is rejected before execution.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90200" cy="52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 3: Enforcement Flow</a:t>
            </a:r>
            <a:br>
              <a:rPr sz="3600"/>
            </a:br>
            <a:br>
              <a:rPr sz="3600"/>
            </a:br>
            <a:br>
              <a:rPr sz="3600"/>
            </a:br>
            <a:br>
              <a:rPr sz="3600"/>
            </a:b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776160" y="965520"/>
            <a:ext cx="8596440" cy="452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When a command is proposed: Either extracted from the model’s RUN: line or taken from the user’s direct input (e.g. ls ~/).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Validation steps: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(1) Parse base command (e.g. using shlex.split for correct quoting).(2) Reject if base is in DENY_COMMANDS.(3) Reject if base is not in ALLOWED_COMMANDS.(4) If both checks pass, pass the full command string to the Shell Execution Module.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No execution: Rejected commands return an empty string to the orchestrator; no subprocess is spawned.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Result: The shell runner never executes sudo, dd, chmod, or other denied commands, regardless of what the model or user types.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228600" y="156240"/>
            <a:ext cx="10690200" cy="52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600" b="1" u="none" strike="noStrike">
                <a:solidFill>
                  <a:schemeClr val="accent1"/>
                </a:solidFill>
                <a:effectLst/>
                <a:uFillTx/>
                <a:latin typeface="Trebuchet MS"/>
                <a:ea typeface="Noto Sans"/>
              </a:rPr>
              <a:t>Module 3: Timeouts and Boundaries</a:t>
            </a:r>
            <a:br>
              <a:rPr sz="3600"/>
            </a:b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/>
          </p:nvPr>
        </p:nvSpPr>
        <p:spPr>
          <a:xfrm>
            <a:off x="685800" y="1371600"/>
            <a:ext cx="8596440" cy="360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Timeout: Shell run is bounded by PENGUIDE_SHELL_TIMEOUT (e.g. 5 seconds); prevents long-running or blocking commands from hanging the CLI.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Error handling: If a command runs but exits non-zero (e.g. invalid options, permission error), the Shell Module returns a clear message (e.g. “command exited with status N…”) plus any captured output; the CLI displays this in the response box.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Academic note: This module demonstrates how to integrate an LLM with a live shell while enforcing a strict, auditable policy and fail-safe defaults—relevant for secure, educational AI assistants.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74520" y="156240"/>
            <a:ext cx="8596440" cy="758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Conclusion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667080" y="914400"/>
            <a:ext cx="8596440" cy="457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Summary: Penguide is an educational agent that teaches Linux and kernel concepts through a safe, interactive CLI. It combines a Command-Line Interface Module, an Agent Reasoning Module, and a Policy and Security Module (with Shell Execution and Output Management reserved for later reviews) to provide explanations before executing any command.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Pedagogical value: Lowers the barrier to learning the command line and kernel by coupling “what to type” with “why it works,” in a guided loop of explanation, suggested command, and real output.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Future work: Extend documentation coverage, add adaptive difficulty, and consider Shell Execution and Output Management modules in the next review phase.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43" name="Cloud Callout 3"/>
          <p:cNvSpPr/>
          <p:nvPr/>
        </p:nvSpPr>
        <p:spPr>
          <a:xfrm>
            <a:off x="2986560" y="5355360"/>
            <a:ext cx="4659120" cy="127404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1"/>
          </a:solidFill>
          <a:ln cap="rnd" w="1908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rebuchet MS"/>
              </a:rPr>
              <a:t>THANK YOU 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1319</TotalTime>
  <Application>LibreOffice/26.2.0.3$Linux_X86_64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2024-12-13T12:01:40Z</dcterms:created>
  <dc:creator>vishalrameshv13@gmail.com</dc:creator>
  <dc:description/>
  <dc:language>en-US</dc:language>
  <cp:lastModifiedBy/>
  <dcterms:modified xsi:type="dcterms:W3CDTF">2026-03-04T06:38:17Z</dcterms:modified>
  <cp:revision>15</cp:revision>
  <dc:subject/>
  <dc:title>INVEST MATCH AI CLOUD BASED   STARTUP AND INVESTOR   MATCHING PLATFORM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Widescreen</vt:lpwstr>
  </property>
  <property fmtid="{D5CDD505-2E9C-101B-9397-08002B2CF9AE}" pid="4" name="Slides">
    <vt:r8>13</vt:r8>
  </property>
</Properties>
</file>