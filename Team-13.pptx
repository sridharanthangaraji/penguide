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dt" idx="3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ftr" idx="3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6"/>
          <p:cNvSpPr>
            <a:spLocks noGrp="1"/>
          </p:cNvSpPr>
          <p:nvPr>
            <p:ph type="sldNum" idx="3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B37587-1647-41A1-98BF-D125FA0D23D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69A2F30-D979-4F83-8887-F15113BBC5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D226A5-0E05-4789-8624-E4BAF3D16F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28F95E-5F03-4DD1-B52A-ED6EADBDA4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4C35BB-3114-456A-B022-DAE78A876A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45C6DEB-6E05-4E3F-B03A-2F4200C345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10BD1A0-464D-404D-9605-E6C092C7F4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F51D180-365B-4A71-8AC8-630D1FE3F3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3C1B154-BDE1-4DB3-B898-B05F804347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275F1B2-BEC3-4B8E-8D7A-C07AF784F3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56888D5-2784-4AFF-A094-6304500E11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99F58F8-5650-4E39-9DC8-60CC62B696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77160" y="956880"/>
            <a:ext cx="8596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F5C4253-1897-41E4-B415-060AA5065C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720" y="-8640"/>
            <a:ext cx="12190680" cy="6867000"/>
            <a:chOff x="720" y="-8640"/>
            <a:chExt cx="12190680" cy="686700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720" y="720"/>
              <a:ext cx="842040" cy="56653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60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A3D991B-9036-4537-893E-AE6A6EB9EE2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" name="Group 6"/>
          <p:cNvGrpSpPr/>
          <p:nvPr/>
        </p:nvGrpSpPr>
        <p:grpSpPr>
          <a:xfrm>
            <a:off x="720" y="-8640"/>
            <a:ext cx="12190680" cy="6867000"/>
            <a:chOff x="720" y="-8640"/>
            <a:chExt cx="12190680" cy="6867000"/>
          </a:xfrm>
        </p:grpSpPr>
        <p:cxnSp>
          <p:nvCxnSpPr>
            <p:cNvPr id="43" name="Straight Connector 31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4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4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Isosceles Triangle 26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Isosceles Triangle 30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18"/>
            <p:cNvSpPr/>
            <p:nvPr/>
          </p:nvSpPr>
          <p:spPr>
            <a:xfrm rot="10800000">
              <a:off x="720" y="720"/>
              <a:ext cx="842040" cy="56653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60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D004564-196B-4B1E-B02C-42C0E686235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6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6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6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6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4B42FA2-2257-4E25-AD27-BD762B99E37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81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82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83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TextBox 19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6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A6B5744-AAD0-4F26-AE65-AA1FD36DCB0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01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02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03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6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1F7E44E-5028-44EA-B8A4-F647A7ECADF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1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2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2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TextBox 23"/>
          <p:cNvSpPr/>
          <p:nvPr/>
        </p:nvSpPr>
        <p:spPr>
          <a:xfrm>
            <a:off x="541800" y="790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4"/>
          <p:cNvSpPr/>
          <p:nvPr/>
        </p:nvSpPr>
        <p:spPr>
          <a:xfrm>
            <a:off x="8893080" y="288648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6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4F0CB1-0204-4F56-B5C2-24EC8048586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39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40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41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77160" y="934200"/>
            <a:ext cx="8596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ftr" idx="19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20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F30AA4-46F2-4FC5-A6B2-7E5B8454C70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dt" idx="21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57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58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59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77160" y="995040"/>
            <a:ext cx="859608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ftr" idx="22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sldNum" idx="23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66213F1-08E8-4DC5-B1D9-62482EC95A6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dt" idx="24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75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76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77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ftr" idx="25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26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12E176-5B4D-4782-8953-5EB693FF025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dt" idx="27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6"/>
          <p:cNvGrpSpPr/>
          <p:nvPr/>
        </p:nvGrpSpPr>
        <p:grpSpPr>
          <a:xfrm>
            <a:off x="0" y="-8640"/>
            <a:ext cx="12191400" cy="6867000"/>
            <a:chOff x="0" y="-8640"/>
            <a:chExt cx="12191400" cy="6867000"/>
          </a:xfrm>
        </p:grpSpPr>
        <p:cxnSp>
          <p:nvCxnSpPr>
            <p:cNvPr id="193" name="Straight Connector 19"/>
            <p:cNvCxnSpPr/>
            <p:nvPr/>
          </p:nvCxnSpPr>
          <p:spPr>
            <a:xfrm>
              <a:off x="9370800" y="0"/>
              <a:ext cx="1220040" cy="685872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94" name="Straight Connector 20"/>
            <p:cNvCxnSpPr/>
            <p:nvPr/>
          </p:nvCxnSpPr>
          <p:spPr>
            <a:xfrm flipH="1">
              <a:off x="7425000" y="3681360"/>
              <a:ext cx="4764240" cy="317736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95" name="Rectangle 23"/>
            <p:cNvSpPr/>
            <p:nvPr/>
          </p:nvSpPr>
          <p:spPr>
            <a:xfrm>
              <a:off x="9181440" y="-8640"/>
              <a:ext cx="3006720" cy="6865920"/>
            </a:xfrm>
            <a:custGeom>
              <a:avLst/>
              <a:gdLst>
                <a:gd name="textAreaLeft" fmla="*/ 0 w 3006720"/>
                <a:gd name="textAreaRight" fmla="*/ 3007440 w 3006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5"/>
            <p:cNvSpPr/>
            <p:nvPr/>
          </p:nvSpPr>
          <p:spPr>
            <a:xfrm>
              <a:off x="9603360" y="-8640"/>
              <a:ext cx="2587680" cy="6865920"/>
            </a:xfrm>
            <a:custGeom>
              <a:avLst/>
              <a:gdLst>
                <a:gd name="textAreaLeft" fmla="*/ 0 w 2587680"/>
                <a:gd name="textAreaRight" fmla="*/ 2588400 w 258768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Isosceles Triangle 23"/>
            <p:cNvSpPr/>
            <p:nvPr/>
          </p:nvSpPr>
          <p:spPr>
            <a:xfrm>
              <a:off x="8932320" y="3048120"/>
              <a:ext cx="3259080" cy="380916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7"/>
            <p:cNvSpPr/>
            <p:nvPr/>
          </p:nvSpPr>
          <p:spPr>
            <a:xfrm>
              <a:off x="9334440" y="-8640"/>
              <a:ext cx="2853720" cy="6865920"/>
            </a:xfrm>
            <a:custGeom>
              <a:avLst/>
              <a:gdLst>
                <a:gd name="textAreaLeft" fmla="*/ 0 w 2853720"/>
                <a:gd name="textAreaRight" fmla="*/ 2854440 w 28537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Rectangle 28"/>
            <p:cNvSpPr/>
            <p:nvPr/>
          </p:nvSpPr>
          <p:spPr>
            <a:xfrm>
              <a:off x="10898640" y="-8640"/>
              <a:ext cx="1289520" cy="6865920"/>
            </a:xfrm>
            <a:custGeom>
              <a:avLst/>
              <a:gdLst>
                <a:gd name="textAreaLeft" fmla="*/ 0 w 1289520"/>
                <a:gd name="textAreaRight" fmla="*/ 1290240 w 128952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Rectangle 29"/>
            <p:cNvSpPr/>
            <p:nvPr/>
          </p:nvSpPr>
          <p:spPr>
            <a:xfrm>
              <a:off x="10938960" y="-8640"/>
              <a:ext cx="1249200" cy="6865920"/>
            </a:xfrm>
            <a:custGeom>
              <a:avLst/>
              <a:gdLst>
                <a:gd name="textAreaLeft" fmla="*/ 0 w 1249200"/>
                <a:gd name="textAreaRight" fmla="*/ 1249920 w 1249200"/>
                <a:gd name="textAreaTop" fmla="*/ 0 h 6865920"/>
                <a:gd name="textAreaBottom" fmla="*/ 6866640 h 686592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Isosceles Triangle 27"/>
            <p:cNvSpPr/>
            <p:nvPr/>
          </p:nvSpPr>
          <p:spPr>
            <a:xfrm>
              <a:off x="10371600" y="3589920"/>
              <a:ext cx="1816560" cy="32673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Isosceles Triangle 28"/>
            <p:cNvSpPr/>
            <p:nvPr/>
          </p:nvSpPr>
          <p:spPr>
            <a:xfrm>
              <a:off x="0" y="4013280"/>
              <a:ext cx="447840" cy="28440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77160" y="995040"/>
            <a:ext cx="859608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ftr" idx="28"/>
          </p:nvPr>
        </p:nvSpPr>
        <p:spPr>
          <a:xfrm>
            <a:off x="677160" y="6041520"/>
            <a:ext cx="62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sldNum" idx="29"/>
          </p:nvPr>
        </p:nvSpPr>
        <p:spPr>
          <a:xfrm>
            <a:off x="8590680" y="6041520"/>
            <a:ext cx="6825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6DB9D79-3DF1-4D12-A02E-2766881AEF0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dt" idx="30"/>
          </p:nvPr>
        </p:nvSpPr>
        <p:spPr>
          <a:xfrm>
            <a:off x="7205040" y="6041520"/>
            <a:ext cx="9111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3920" cy="102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Penguide A Lightweight Local AI Agent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for Secure Linux Command Assistance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90160" cy="282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Vinisha. 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( 620822205119 )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Thirisha.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( 620822205115 )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Rethika. 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Yuvasri.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( 620822205124 )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MRS, Gayathri. M, AP/IT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/>
          </p:nvPr>
        </p:nvSpPr>
        <p:spPr>
          <a:xfrm>
            <a:off x="750240" y="1143000"/>
            <a:ext cx="8081640" cy="544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Beginners learning Linux and kernel concepts lack a safe, guided environment that explains commands clearly, prevents harmful execution, provides documentation-backed answers, and preserves user privacy through fully local AI-based assistance.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AI-powered assistants for system interaction suffer from severalcritical limitations. Most tools are cloud-dependent, creating privacy andreliability concerns.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 Many systems execute commands without sufficient restrictions, leading to potential security risks such as privilege escalation or destructive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Additionally, AI assistants often behave like conversational chatbots, producing verbose explanations instead of actionable outputs, which reduces efficiency in real system workflows.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There is a lack of lightweight, locally deployable AI agents that can safely assist with Linux command execution while maintaining strict control over system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title"/>
          </p:nvPr>
        </p:nvSpPr>
        <p:spPr>
          <a:xfrm>
            <a:off x="90720" y="228960"/>
            <a:ext cx="859608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6080" cy="68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47560" y="1017720"/>
            <a:ext cx="8596080" cy="56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 Linux commands and kernel concepts through clear, beginner-friendly explanations.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a safe practice environment using an allow-list shell to prevent harmful command execution.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Interpret natural-language questions and generate explanations with a single safe command when appropriate.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Ground responses using curated Linux kernel documentation (RAG-based contextual retrieval).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Support adaptive learning with “simple” and “detailed” explanation modes.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privacy by running inference locally (e.g., via Ollama) with no external data sharing.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 a structured CLI interface with meta-commands (help, history, clear, exit).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52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604800" y="685800"/>
            <a:ext cx="808164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Most existing AI assistants for system interaction operate as: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Cloud-hosted AI services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General-purpose conversational chatbots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Tools with unrestricted command execution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Examples include cloud IDE assistants and web-based AI shells.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685800" y="4114800"/>
            <a:ext cx="8081640" cy="24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Dependence on internet connectivity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Exposure of system data to third-party servers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latency and inconsistent response times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Risk of executing unsafe or privileged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Excessive explanations instead of direct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3"/>
          <p:cNvSpPr/>
          <p:nvPr/>
        </p:nvSpPr>
        <p:spPr>
          <a:xfrm>
            <a:off x="228600" y="3240360"/>
            <a:ext cx="35013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6080" cy="132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4"/>
          <p:cNvSpPr/>
          <p:nvPr/>
        </p:nvSpPr>
        <p:spPr>
          <a:xfrm>
            <a:off x="184680" y="3429000"/>
            <a:ext cx="31219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558000" y="857880"/>
            <a:ext cx="8081640" cy="234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Penguide is a local AI command agent that: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entirely on the user’s machine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Uses a local large language model for reasoning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Enforces strict command allowlists and policies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Executes at most one command per reques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604800" y="4114800"/>
            <a:ext cx="8081640" cy="251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Complete data privacy and offline capability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Deterministic and predictable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 security through command restrictions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 execution with minimal overhead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Scriptable and automation-friendly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18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"/>
          <p:cNvPicPr/>
          <p:nvPr/>
        </p:nvPicPr>
        <p:blipFill>
          <a:blip r:embed="rId1"/>
          <a:stretch/>
        </p:blipFill>
        <p:spPr>
          <a:xfrm>
            <a:off x="228600" y="1828800"/>
            <a:ext cx="9212040" cy="282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06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6080" cy="62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275760" y="3599280"/>
            <a:ext cx="3031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77520" y="1148760"/>
            <a:ext cx="8596080" cy="388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Command-Line Interface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Agent Reasoning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and Security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Shell Execution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1470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 1: Command-Line Interface Module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080" cy="566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Single entry point for the user; handles input, meta-commands, and formatted output.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Entry point: bin/penguide.py — interactive loop or one-shot query from the terminal.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 handling: Reads natural-language questions; supports meta-commands: help, history, commands, mode simple / mode detailed, clear, exit / quit.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modes: “Simple” (short explanations) and “Detailed” (deeper explanations); switchable at runtime.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Output: Colored, boxed responses; distinct styling for explanations, executed commands, and errors; prompt label 🐧 penguide&gt;.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Special views: commands lists allowed/denied shell commands; history shows recent conversation turns.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12010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2:</a:t>
            </a: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Agent Reasoning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736920"/>
            <a:ext cx="8596080" cy="292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Role: Turns user queries into explanations and, when appropriate, a single safe shell command; coordinates LLM, memory, and kernel documentation.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Components: Orchestrator (core/orchestrator.py), Agent (core/agent.py), Ollama client (models/ollama.py).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Context per turn: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Memory: Last N conversation turns (configurable; e.g. PENGUIDE_MEMORY_MAX_TURNS).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Knowledge: Snippets from knowledge/kernel/*.md matched to the user’s question (e.g. memory, processes).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Environment: Home directory and current working directory injected so the model can suggest realistic paths (~, project dir).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"/>
          <p:cNvPicPr/>
          <p:nvPr/>
        </p:nvPicPr>
        <p:blipFill>
          <a:blip r:embed="rId1"/>
          <a:stretch/>
        </p:blipFill>
        <p:spPr>
          <a:xfrm>
            <a:off x="2057400" y="3657600"/>
            <a:ext cx="5715000" cy="289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Module 2: Prompting and Teaching Logic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080" cy="223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prompt: Defines Penguide as a beginner-friendly Linux guide; rules: one command per response, prefer safe commands, avoid inventing commands; format for actions: RUN: &lt;command&gt;.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mode: Injected as “Teaching mode: simple” or “Teaching mode: detailed”; optional per-command hints (e.g. how to explain ls, grep, ps) from configs/teaching.py.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hint: Allow-list of shell commands is included so the model only suggests permitted commands.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Request flow: Full context (history + knowledge + env) + system block + user message → single non-streaming call to Ollama; response is parsed for explanation and optional RUN: line.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"/>
          <p:cNvPicPr/>
          <p:nvPr/>
        </p:nvPicPr>
        <p:blipFill>
          <a:blip r:embed="rId1"/>
          <a:stretch/>
        </p:blipFill>
        <p:spPr>
          <a:xfrm>
            <a:off x="1500480" y="3286440"/>
            <a:ext cx="6729120" cy="311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 2: Parsing and Fallback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685800" y="965520"/>
            <a:ext cx="8596080" cy="474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Parsing: Scan model reply for RUN: &lt;command&gt;; strip markdown (backticks, bold); use only the first line after RUN: as the command string.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 RUN: is present: Explanation = text before RUN:; command is sent to Shell Execution Module; combined output = explanation + “&gt; Executing: &amp;lt;cmd&amp;gt;” + real output.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Fallback: If the user types a line that starts with an allowed command (e.g. ls ~/workspace) and the model did not emit RUN:, the orchestrator still runs that command and appends “&gt; Executing: …” and the result to the explanation.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Outcome: Every actionable step is “explain → show command → show result,” keeping the teaching loop consistent.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Policy and Security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9600" cy="480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Ensure only safe, educational commands are executed; block destructive or privileged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source: configs/policy.py — two sets: ALLOWED_COMMANDS (e.g. ls, cat, pwd, ps, df, du, grep, find, ip, ss, nano, vim) and DENY_COMMANDS (e.g. sudo, chmod, chown, dd, mount, reboot, shutdown).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Scope: Only the first token (base command) is checked; arguments are not parsed for semantic safety.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Principle: Explicit allow-list plus deny-list; any command not allowed or explicitly denied is rejected before execution.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"/>
          <p:cNvPicPr/>
          <p:nvPr/>
        </p:nvPicPr>
        <p:blipFill>
          <a:blip r:embed="rId1"/>
          <a:stretch/>
        </p:blipFill>
        <p:spPr>
          <a:xfrm>
            <a:off x="457200" y="1600200"/>
            <a:ext cx="4647240" cy="525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"/>
          <p:cNvPicPr/>
          <p:nvPr/>
        </p:nvPicPr>
        <p:blipFill>
          <a:blip r:embed="rId2"/>
          <a:stretch/>
        </p:blipFill>
        <p:spPr>
          <a:xfrm>
            <a:off x="5392080" y="1600200"/>
            <a:ext cx="4209120" cy="20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"/>
          <p:cNvSpPr txBox="1"/>
          <p:nvPr/>
        </p:nvSpPr>
        <p:spPr>
          <a:xfrm>
            <a:off x="457200" y="1143000"/>
            <a:ext cx="36576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Allowd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486400" y="1143000"/>
            <a:ext cx="36576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Denied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5"/>
          <p:cNvSpPr txBox="1"/>
          <p:nvPr/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Policy and Security Module</a:t>
            </a: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 3: Enforcement Flow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547920" y="965880"/>
            <a:ext cx="8596080" cy="452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 a command is proposed: Either extracted from the model’s RUN: line or taken from the user’s direct input (e.g. ls ~/).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Validation steps: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(1) Parse base command (e.g. using shlex.split for correct quoting).(2) Reject if base is in DENY_COMMANDS.(3) Reject if base is not in ALLOWED_COMMANDS.(4) If both checks pass, pass the full command string to the Shell Execution Module.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execution: Rejected commands return an empty string to the orchestrator; no subprocess is spawned.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 The shell runner never executes sudo, dd, chmod, or other denied commands, regardless of what the model or user types.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89840" cy="52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Module 3: Timeouts and Boundaries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76520" y="914400"/>
            <a:ext cx="8596080" cy="360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Timeout: Shell run is bounded by PENGUIDE_SHELL_TIMEOUT (e.g. 5 seconds); prevents long-running or blocking commands from hanging the CLI.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Error handling: If a command runs but exits non-zero (e.g. invalid options, permission error), the Shell Module returns a clear message (e.g. “command exited with status N…”) plus any captured output; the CLI displays this in the response box.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"/>
          <p:cNvPicPr/>
          <p:nvPr/>
        </p:nvPicPr>
        <p:blipFill>
          <a:blip r:embed="rId1"/>
          <a:stretch/>
        </p:blipFill>
        <p:spPr>
          <a:xfrm>
            <a:off x="1600200" y="3429000"/>
            <a:ext cx="5885640" cy="314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080" cy="7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608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Summary: Penguide is an educational agent that teaches Linux and kernel concepts through a safe, interactive CLI. It combines a Command-Line Interface Module, an Agent Reasoning Module, and a Policy and Security Module (with Shell Execution and Output Management reserved for later reviews) to provide explanations before executing any command.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Pedagogical value: Lowers the barrier to learning the command line and kernel by coupling “what to type” with “why it works,” in a guided loop of explanation, suggested command, and real output.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Future work: Extend documentation coverage, add adaptive difficulty, and consider Shell Execution and Output Management modules in the next review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Cloud Callout 3"/>
          <p:cNvSpPr/>
          <p:nvPr/>
        </p:nvSpPr>
        <p:spPr>
          <a:xfrm>
            <a:off x="2743200" y="5029200"/>
            <a:ext cx="4658760" cy="127368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  <a:ea typeface="DejaVu San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1342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2026-03-06T02:06:21Z</dcterms:modified>
  <cp:revision>17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