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12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8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3891045-7EFB-421A-8058-D1AD8B7FC7D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800" cy="342792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1CAB255-D45E-4B39-AB4C-D716A829CA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2114EB-B025-4FE4-85E9-85D6A483A76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CEF6D6-B9CD-41B7-B115-CE295D743A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276AFF8-2FD3-496F-916E-6759382FEC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05900FB-2E08-4AEE-959D-C4A4D2A636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55CE212-1250-4548-A815-C1834B5786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9BD4053-D68A-4D22-95B6-C52ECBB9116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192B07E-5E4E-4E6D-BE85-9C560FDAA9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F802F01-D715-4C0D-8C10-109E0AACEE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6FD524A-68B1-4194-8A5C-8B27E751A63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5BE563C-2023-413E-AC80-523DDF2D2B5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F3AAF64-B705-4523-9373-B00E16DC6D7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F41DD22-1FFC-4207-A789-857B58E329F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8A52FCD-E8A1-4C25-A0FD-8CEC0A421E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3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4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5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Group 6"/>
          <p:cNvGrpSpPr/>
          <p:nvPr/>
        </p:nvGrpSpPr>
        <p:grpSpPr>
          <a:xfrm>
            <a:off x="1080" y="-8640"/>
            <a:ext cx="12189960" cy="6867360"/>
            <a:chOff x="1080" y="-8640"/>
            <a:chExt cx="12189960" cy="6867360"/>
          </a:xfrm>
        </p:grpSpPr>
        <p:cxnSp>
          <p:nvCxnSpPr>
            <p:cNvPr id="14" name="Straight Connector 31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15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16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Isosceles Triangle 26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Isosceles Triangle 30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Isosceles Triangle 18"/>
            <p:cNvSpPr/>
            <p:nvPr/>
          </p:nvSpPr>
          <p:spPr>
            <a:xfrm rot="10800000">
              <a:off x="1080" y="1080"/>
              <a:ext cx="841680" cy="56649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1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sldNum" idx="2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D228E4A-BE65-4A2B-AACE-CE5DFF74CE5F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dt" idx="3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32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33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34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2" name="Group 6"/>
          <p:cNvGrpSpPr/>
          <p:nvPr/>
        </p:nvGrpSpPr>
        <p:grpSpPr>
          <a:xfrm>
            <a:off x="1080" y="-8640"/>
            <a:ext cx="12189960" cy="6867360"/>
            <a:chOff x="1080" y="-8640"/>
            <a:chExt cx="12189960" cy="6867360"/>
          </a:xfrm>
        </p:grpSpPr>
        <p:cxnSp>
          <p:nvCxnSpPr>
            <p:cNvPr id="43" name="Straight Connector 31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44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45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" name="Isosceles Triangle 26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" name="Isosceles Triangle 30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Isosceles Triangle 18"/>
            <p:cNvSpPr/>
            <p:nvPr/>
          </p:nvSpPr>
          <p:spPr>
            <a:xfrm rot="10800000">
              <a:off x="1080" y="1080"/>
              <a:ext cx="841680" cy="56649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ftr" idx="4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5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1B847CC-1273-4BA5-91F7-200CBD4E6FCC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dt" idx="6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61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62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63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6"/>
          <p:cNvGrpSpPr/>
          <p:nvPr/>
        </p:nvGrpSpPr>
        <p:grpSpPr>
          <a:xfrm>
            <a:off x="1080" y="-8640"/>
            <a:ext cx="12189960" cy="6867360"/>
            <a:chOff x="1080" y="-8640"/>
            <a:chExt cx="12189960" cy="6867360"/>
          </a:xfrm>
        </p:grpSpPr>
        <p:cxnSp>
          <p:nvCxnSpPr>
            <p:cNvPr id="72" name="Straight Connector 31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73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74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Isosceles Triangle 26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Isosceles Triangle 30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Isosceles Triangle 18"/>
            <p:cNvSpPr/>
            <p:nvPr/>
          </p:nvSpPr>
          <p:spPr>
            <a:xfrm rot="10800000">
              <a:off x="1080" y="1080"/>
              <a:ext cx="841680" cy="566496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7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8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939E098-2CE2-4EAC-BE3C-2F3A59D64350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9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90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91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92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ftr" idx="10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sldNum" idx="11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0807770-0D0A-4A00-8B6D-A6C679530926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5"/>
          <p:cNvSpPr>
            <a:spLocks noGrp="1"/>
          </p:cNvSpPr>
          <p:nvPr>
            <p:ph type="dt" idx="12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08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109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110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8" name="TextBox 19"/>
          <p:cNvSpPr/>
          <p:nvPr/>
        </p:nvSpPr>
        <p:spPr>
          <a:xfrm>
            <a:off x="541800" y="790200"/>
            <a:ext cx="60840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  <a:ea typeface="DejaVu Sans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21"/>
          <p:cNvSpPr/>
          <p:nvPr/>
        </p:nvSpPr>
        <p:spPr>
          <a:xfrm>
            <a:off x="8893080" y="2886480"/>
            <a:ext cx="60840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  <a:ea typeface="DejaVu Sans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ftr" idx="13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sldNum" idx="14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F9A7C3A-F431-460C-9831-A9E926B53EB0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dt" idx="15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28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129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130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ftr" idx="16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sldNum" idx="17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3A2C3A2-BFD5-42B2-ABE4-6269CE369B02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dt" idx="18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46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147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148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56" name="TextBox 23"/>
          <p:cNvSpPr/>
          <p:nvPr/>
        </p:nvSpPr>
        <p:spPr>
          <a:xfrm>
            <a:off x="541800" y="790200"/>
            <a:ext cx="60840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  <a:ea typeface="DejaVu Sans"/>
              </a:rPr>
              <a:t>“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24"/>
          <p:cNvSpPr/>
          <p:nvPr/>
        </p:nvSpPr>
        <p:spPr>
          <a:xfrm>
            <a:off x="8893080" y="2886480"/>
            <a:ext cx="60840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Arial"/>
                <a:ea typeface="DejaVu Sans"/>
              </a:rPr>
              <a:t>”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ftr" idx="19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sldNum" idx="20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808D89F-ABC6-4208-A8A6-28D88073515F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dt" idx="21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66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167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168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0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ftr" idx="22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 type="sldNum" idx="23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3D17AD4-C273-41BF-9486-E9C67D780797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 type="dt" idx="24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184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185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186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ftr" idx="25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sldNum" idx="26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4B6E620-C8E5-40D0-B6D8-5412A15676AC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 type="dt" idx="27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1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202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203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204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5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6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7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8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9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1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ftr" idx="28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 type="sldNum" idx="29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7E4BF35-B51D-4793-827B-220963CDC954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PlaceHolder 5"/>
          <p:cNvSpPr>
            <a:spLocks noGrp="1"/>
          </p:cNvSpPr>
          <p:nvPr>
            <p:ph type="dt" idx="30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" name="Group 6"/>
          <p:cNvGrpSpPr/>
          <p:nvPr/>
        </p:nvGrpSpPr>
        <p:grpSpPr>
          <a:xfrm>
            <a:off x="0" y="-8640"/>
            <a:ext cx="12191040" cy="6867360"/>
            <a:chOff x="0" y="-8640"/>
            <a:chExt cx="12191040" cy="6867360"/>
          </a:xfrm>
        </p:grpSpPr>
        <p:cxnSp>
          <p:nvCxnSpPr>
            <p:cNvPr id="220" name="Straight Connector 19"/>
            <p:cNvCxnSpPr/>
            <p:nvPr/>
          </p:nvCxnSpPr>
          <p:spPr>
            <a:xfrm>
              <a:off x="9370800" y="0"/>
              <a:ext cx="1220400" cy="6859080"/>
            </a:xfrm>
            <a:prstGeom prst="straightConnector1">
              <a:avLst/>
            </a:prstGeom>
            <a:ln cap="rnd" w="9360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221" name="Straight Connector 20"/>
            <p:cNvCxnSpPr/>
            <p:nvPr/>
          </p:nvCxnSpPr>
          <p:spPr>
            <a:xfrm flipH="1">
              <a:off x="7425000" y="3681360"/>
              <a:ext cx="4764600" cy="3177720"/>
            </a:xfrm>
            <a:prstGeom prst="straightConnector1">
              <a:avLst/>
            </a:prstGeom>
            <a:ln cap="rnd" w="9360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222" name="Rectangle 23"/>
            <p:cNvSpPr/>
            <p:nvPr/>
          </p:nvSpPr>
          <p:spPr>
            <a:xfrm>
              <a:off x="9181440" y="-8640"/>
              <a:ext cx="3006360" cy="6865560"/>
            </a:xfrm>
            <a:custGeom>
              <a:avLst/>
              <a:gdLst>
                <a:gd name="textAreaLeft" fmla="*/ 0 w 3006360"/>
                <a:gd name="textAreaRight" fmla="*/ 3007440 w 3006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3" name="Rectangle 25"/>
            <p:cNvSpPr/>
            <p:nvPr/>
          </p:nvSpPr>
          <p:spPr>
            <a:xfrm>
              <a:off x="9603360" y="-8640"/>
              <a:ext cx="2587320" cy="6865560"/>
            </a:xfrm>
            <a:custGeom>
              <a:avLst/>
              <a:gdLst>
                <a:gd name="textAreaLeft" fmla="*/ 0 w 2587320"/>
                <a:gd name="textAreaRight" fmla="*/ 2588400 w 258732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Isosceles Triangle 23"/>
            <p:cNvSpPr/>
            <p:nvPr/>
          </p:nvSpPr>
          <p:spPr>
            <a:xfrm>
              <a:off x="8932320" y="3048120"/>
              <a:ext cx="3258720" cy="38088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Rectangle 27"/>
            <p:cNvSpPr/>
            <p:nvPr/>
          </p:nvSpPr>
          <p:spPr>
            <a:xfrm>
              <a:off x="9334440" y="-8640"/>
              <a:ext cx="2853360" cy="6865560"/>
            </a:xfrm>
            <a:custGeom>
              <a:avLst/>
              <a:gdLst>
                <a:gd name="textAreaLeft" fmla="*/ 0 w 2853360"/>
                <a:gd name="textAreaRight" fmla="*/ 2854440 w 28533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6" name="Rectangle 28"/>
            <p:cNvSpPr/>
            <p:nvPr/>
          </p:nvSpPr>
          <p:spPr>
            <a:xfrm>
              <a:off x="10898640" y="-8640"/>
              <a:ext cx="1289160" cy="6865560"/>
            </a:xfrm>
            <a:custGeom>
              <a:avLst/>
              <a:gdLst>
                <a:gd name="textAreaLeft" fmla="*/ 0 w 1289160"/>
                <a:gd name="textAreaRight" fmla="*/ 1290240 w 128916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7" name="Rectangle 29"/>
            <p:cNvSpPr/>
            <p:nvPr/>
          </p:nvSpPr>
          <p:spPr>
            <a:xfrm>
              <a:off x="10938960" y="-8640"/>
              <a:ext cx="1248840" cy="6865560"/>
            </a:xfrm>
            <a:custGeom>
              <a:avLst/>
              <a:gdLst>
                <a:gd name="textAreaLeft" fmla="*/ 0 w 1248840"/>
                <a:gd name="textAreaRight" fmla="*/ 1249920 w 1248840"/>
                <a:gd name="textAreaTop" fmla="*/ 0 h 6865560"/>
                <a:gd name="textAreaBottom" fmla="*/ 6866640 h 6865560"/>
              </a:gdLst>
              <a:ahLst/>
              <a:cxn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8" name="Isosceles Triangle 27"/>
            <p:cNvSpPr/>
            <p:nvPr/>
          </p:nvSpPr>
          <p:spPr>
            <a:xfrm>
              <a:off x="10371600" y="3589920"/>
              <a:ext cx="1816200" cy="3267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9" name="Isosceles Triangle 28"/>
            <p:cNvSpPr/>
            <p:nvPr/>
          </p:nvSpPr>
          <p:spPr>
            <a:xfrm>
              <a:off x="0" y="4013280"/>
              <a:ext cx="447480" cy="284364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 w="12600"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677160" y="934200"/>
            <a:ext cx="8595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ftr" idx="31"/>
          </p:nvPr>
        </p:nvSpPr>
        <p:spPr>
          <a:xfrm>
            <a:off x="677160" y="6041520"/>
            <a:ext cx="6296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PlaceHolder 4"/>
          <p:cNvSpPr>
            <a:spLocks noGrp="1"/>
          </p:cNvSpPr>
          <p:nvPr>
            <p:ph type="sldNum" idx="32"/>
          </p:nvPr>
        </p:nvSpPr>
        <p:spPr>
          <a:xfrm>
            <a:off x="8590680" y="6041520"/>
            <a:ext cx="6822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41B6631-F4EB-43AC-9E08-04127AC8642A}" type="slidenum">
              <a:rPr lang="en-IN" sz="900" b="0" u="none" strike="noStrike">
                <a:solidFill>
                  <a:schemeClr val="accent1"/>
                </a:solidFill>
                <a:effectLst/>
                <a:uFillTx/>
                <a:latin typeface="Trebuchet MS"/>
              </a:rPr>
              <a:t>&lt;number&gt;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PlaceHolder 5"/>
          <p:cNvSpPr>
            <a:spLocks noGrp="1"/>
          </p:cNvSpPr>
          <p:nvPr>
            <p:ph type="dt" idx="33"/>
          </p:nvPr>
        </p:nvSpPr>
        <p:spPr>
          <a:xfrm>
            <a:off x="7205040" y="6041520"/>
            <a:ext cx="9108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  <p:sldLayoutId id="2147483670" r:id="rId3"/>
    <p:sldLayoutId id="214748367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1449720" y="457200"/>
            <a:ext cx="7693560" cy="102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rgbClr val="111111"/>
                </a:solidFill>
                <a:effectLst/>
                <a:uFillTx/>
                <a:latin typeface="Trebuchet MS"/>
              </a:rPr>
              <a:t>Penguide A Lightweight Local AI Agent</a:t>
            </a:r>
            <a:br>
              <a:rPr sz="3200"/>
            </a:br>
            <a:r>
              <a:rPr lang="en-US" sz="3200" b="1" u="none" strike="noStrike">
                <a:solidFill>
                  <a:srgbClr val="111111"/>
                </a:solidFill>
                <a:effectLst/>
                <a:uFillTx/>
                <a:latin typeface="Trebuchet MS"/>
              </a:rPr>
              <a:t>for Secure Linux Command Assistance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subTitle"/>
          </p:nvPr>
        </p:nvSpPr>
        <p:spPr>
          <a:xfrm>
            <a:off x="2539080" y="2286000"/>
            <a:ext cx="5689800" cy="282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TEAM MEMBERS 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Vinisha. K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( 620822205119 )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Thirisha. S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( 620822205115 )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Rethika. 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( 620822205086 )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Yuvasri. S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( 620822205124 )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GUIDE : MRS, Gayathri. M, AP/IT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90360" y="228600"/>
            <a:ext cx="859572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Objective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547560" y="1017720"/>
            <a:ext cx="8595720" cy="56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Teach Linux commands and kernel concepts through clear, beginner-friendly explanations.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Provide a safe practice environment using an allow-list shell to prevent harmful command execution.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Interpret natural-language questions and generate explanations with a single safe command when appropriate.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Ground responses using curated Linux kernel documentation (RAG-based contextual retrieval).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Support adaptive learning with “simple” and “detailed” explanation modes.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Ensure privacy by running inference locally (e.g., via Ollama) with no external data sharing.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Offer a structured CLI interface with meta-commands (help, history, clear, exit).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202320" y="0"/>
            <a:ext cx="825516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Existing System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/>
          </p:nvPr>
        </p:nvSpPr>
        <p:spPr>
          <a:xfrm>
            <a:off x="604800" y="685800"/>
            <a:ext cx="8081280" cy="274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Most existing AI assistants for system interaction operate as: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Cloud-hosted AI services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General-purpose conversational chatbots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Tools with unrestricted command execution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Examples include cloud IDE assistants and web-based AI shells.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/>
          </p:nvPr>
        </p:nvSpPr>
        <p:spPr>
          <a:xfrm>
            <a:off x="685800" y="4114800"/>
            <a:ext cx="8081280" cy="241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Dependence on internet connectivity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Exposure of system data to third-party servers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High latency and inconsistent response times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Risk of executing unsafe or privileged commands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Excessive explanations instead of direct results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3"/>
          <p:cNvSpPr/>
          <p:nvPr/>
        </p:nvSpPr>
        <p:spPr>
          <a:xfrm>
            <a:off x="228600" y="3240360"/>
            <a:ext cx="350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DejaVu Sans"/>
              </a:rPr>
              <a:t>Disadvantage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3560" y="0"/>
            <a:ext cx="8595720" cy="131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Proposed System :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Rectangle 4"/>
          <p:cNvSpPr/>
          <p:nvPr/>
        </p:nvSpPr>
        <p:spPr>
          <a:xfrm>
            <a:off x="184680" y="3429000"/>
            <a:ext cx="3121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DejaVu Sans"/>
              </a:rPr>
              <a:t>Advantage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/>
          </p:nvPr>
        </p:nvSpPr>
        <p:spPr>
          <a:xfrm>
            <a:off x="558000" y="857880"/>
            <a:ext cx="8081280" cy="234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Penguide is a local AI command agent that: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Runs entirely on the user’s machine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Uses a local large language model for reasoning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Enforces strict command allowlists and policies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Executes at most one command per reques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/>
          </p:nvPr>
        </p:nvSpPr>
        <p:spPr>
          <a:xfrm>
            <a:off x="604800" y="4114800"/>
            <a:ext cx="8081280" cy="251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Complete data privacy and offline capability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Deterministic and predictable behavior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Strong security through command restrictions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Fast execution with minimal overhead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Scriptable and automation-friendly design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203400" y="152280"/>
            <a:ext cx="10311480" cy="99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SYSTEM ARCHITECTURE/FLOW DIAGRAM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"/>
          <p:cNvPicPr/>
          <p:nvPr/>
        </p:nvPicPr>
        <p:blipFill>
          <a:blip r:embed="rId1"/>
          <a:stretch/>
        </p:blipFill>
        <p:spPr>
          <a:xfrm>
            <a:off x="228600" y="1828800"/>
            <a:ext cx="9211680" cy="2826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0"/>
            <a:ext cx="8000280" cy="91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0360" y="64800"/>
            <a:ext cx="8595720" cy="62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5000" lnSpcReduction="19999"/>
          </a:bodyPr>
          <a:p>
            <a:pPr marL="343080" indent="-343080" algn="just" defTabSz="4572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IN" sz="144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 Modules :</a:t>
            </a:r>
            <a:endParaRPr lang="en-US" sz="1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 defTabSz="4572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ectangle 4"/>
          <p:cNvSpPr/>
          <p:nvPr/>
        </p:nvSpPr>
        <p:spPr>
          <a:xfrm>
            <a:off x="275760" y="3599280"/>
            <a:ext cx="3030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  <a:ea typeface="DejaVu Sans"/>
              </a:rPr>
              <a:t>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/>
          </p:nvPr>
        </p:nvSpPr>
        <p:spPr>
          <a:xfrm>
            <a:off x="677520" y="1148760"/>
            <a:ext cx="8595720" cy="387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Command-Line Interface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Agent Reasoning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Policy and Security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Shell Execution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Output Management Module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1146680" cy="5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</a:rPr>
              <a:t>Module 1: Command-Line Interface Module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750240" y="1194120"/>
            <a:ext cx="8595720" cy="566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Purpose: Single entry point for the user; handles input, meta-commands, and formatted output.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Entry point: bin/penguide.py — interactive loop or one-shot query from the terminal.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Input handling: Reads natural-language questions; supports meta-commands: help, history, commands, mode simple / mode detailed, clear, exit / quit.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Teaching modes: “Simple” (short explanations) and “Detailed” (deeper explanations); switchable at runtime.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Output: Colored, boxed responses; distinct styling for explanations, executed commands, and errors; prompt label 🐧 penguide&gt;.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Special views: commands lists allowed/denied shell commands; history shows recent conversation turns.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360" y="0"/>
            <a:ext cx="11200680" cy="5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2:</a:t>
            </a:r>
            <a:r>
              <a:rPr lang="en-US" sz="3600" b="1" u="none" strike="noStrike">
                <a:solidFill>
                  <a:schemeClr val="accent1"/>
                </a:solidFill>
                <a:effectLst/>
                <a:uFillTx/>
                <a:latin typeface="Trebuchet MS"/>
                <a:ea typeface="Noto Sans"/>
              </a:rPr>
              <a:t> </a:t>
            </a:r>
            <a:r>
              <a:rPr lang="en-US" sz="36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  <a:ea typeface="Noto Sans"/>
              </a:rPr>
              <a:t>Agent Reasoning Module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/>
          </p:nvPr>
        </p:nvSpPr>
        <p:spPr>
          <a:xfrm>
            <a:off x="457200" y="736920"/>
            <a:ext cx="8595720" cy="292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Role: Turns user queries into explanations and, when appropriate, a single safe shell command; coordinates LLM, memory, and kernel documentation.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Components: Orchestrator (core/orchestrator.py), Agent (core/agent.py), Ollama client (models/ollama.py).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Context per turn: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Memory: Last N conversation turns (configurable; e.g. PENGUIDE_MEMORY_MAX_TURNS).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Knowledge: Snippets from knowledge/kernel/*.md matched to the user’s question (e.g. memory, processes).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Environment: Home directory and current working directory injected so the model can suggest realistic paths (~, project dir).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9" name=""/>
          <p:cNvPicPr/>
          <p:nvPr/>
        </p:nvPicPr>
        <p:blipFill>
          <a:blip r:embed="rId1"/>
          <a:stretch/>
        </p:blipFill>
        <p:spPr>
          <a:xfrm>
            <a:off x="2057400" y="3657600"/>
            <a:ext cx="5714640" cy="289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480" cy="5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3: Policy and Security Module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/>
          </p:nvPr>
        </p:nvSpPr>
        <p:spPr>
          <a:xfrm>
            <a:off x="457200" y="1143000"/>
            <a:ext cx="82292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Purpose: Ensure only safe, educational commands are executed; block destructive or privileged operations.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Policy source: configs/policy.py — two sets: ALLOWED_COMMANDS (e.g. ls, cat, pwd, ps, df, du, grep, find, ip, ss, nano, vim) and DENY_COMMANDS (e.g. sudo, chmod, chown, dd, mount, reboot, shutdown).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Scope: Only the first token (base command) is checked; arguments are not parsed for semantic safety.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Principle: Explicit allow-list plus deny-list; any command not allowed or explicitly denied is rejected before execution.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480" cy="5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4: Shell Execution Module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143000"/>
            <a:ext cx="8686800" cy="5257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Manages safe subprocess execution for validated, policy-approved shell commands.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Enforces hard timeout boundaries on all command runs to prevent blocking.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Captures stdout and stderr separately with proper UTF-8 encoding handling.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Returns structured output (stdout, stderr, exit_code) to Agent Reasoning Module.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No privileged execution — runs as current user only (no sudo escalation).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Working directory set to user's home directory for safe default context.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Non-zero exit codes returned as diagnostic messages, not exceptions.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Provides 'explain → show command → show result' teaching loop consistency.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480" cy="5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4: Implementation Module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2"/>
          <p:cNvSpPr>
            <a:spLocks noGrp="1"/>
          </p:cNvSpPr>
          <p:nvPr>
            <p:ph/>
          </p:nvPr>
        </p:nvSpPr>
        <p:spPr>
          <a:xfrm>
            <a:off x="457200" y="1143000"/>
            <a:ext cx="82292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Core Implementation (tools/shell.py):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subprocess.run(cmd, shell=False, capture_output=True, timeout=TIMEOUT) used.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cmd parsed via shlex.split() to prevent shell injection via argument splitting.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stdout.decode('utf-8', errors='replace') handles binary/non-UTF output safely.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PENGUIDE_SHELL_TIMEOUT env var (default: 5s) caps execution time.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Output Handling: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Returns dict: { 'stdout': str, 'stderr': str, 'returncode': int, 'cmd': str }.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Non-zero returncode triggers: 'command exited with status N: &lt;stderr&gt;' message.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TimeoutExpired exception caught → returns 'command timed out after Ns' message.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Security Guarantee: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Shell Execution Module never called unless Policy Module approved the command.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No environment variable injection — clean env passed to subprocess.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stdin=DEVNULL prevents interactive prompt hanging.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480" cy="5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5: Output Management Module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/>
          </p:nvPr>
        </p:nvSpPr>
        <p:spPr>
          <a:xfrm>
            <a:off x="457200" y="1143000"/>
            <a:ext cx="82292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Formats and presents agent responses with clear visual structure and color-coding.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Color-coded output distinguishes: explanation (white), command (yellow), result (green).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Boxed response containers using rich library improve terminal readability.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History management stores recent conversation turns (configurable max turns).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Supports terminal-aware rendering with ANSI escape codes for color and style.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Error messages displayed in red-bordered box for immediate visibility.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Mode indicator shows current teaching mode (simple/detailed) in prompt.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Clear command resets terminal display and optionally clears history buffer.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480" cy="5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Module 5: Implementation Module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457200" y="1143000"/>
            <a:ext cx="8229240" cy="480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Core Implementation (sys/output.py):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rich.console.Console used for platform-aware ANSI color rendering.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rich.panel.Panel wraps each response in a bordered box with title.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Panel title shows: '🐧 penguide' with mode badge [simple] or [detailed].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History Management: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Conversation stored as list of dicts: [{'role': 'user'|'agent', 'text': str}].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history command renders numbered turns with role prefix and timestamp.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Max turns enforced by slicing history list to last N entries.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1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Output Sections: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Explanation section: white text in main panel body.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Executing section: '&gt; Executing: &lt;cmd&gt;' in yellow bold.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Command result: actual output in green monospace block.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"/>
              </a:rPr>
              <a:t>Error section: red border with stderr content and exit code.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0" algn="l" defTabSz="457200">
              <a:lnSpc>
                <a:spcPct val="100000"/>
              </a:lnSpc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480" cy="5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Arial"/>
                <a:ea typeface="Noto Sans"/>
              </a:rPr>
              <a:t>Screenshot: Source code</a:t>
            </a:r>
            <a:br>
              <a:rPr sz="3600"/>
            </a:b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1" name=""/>
          <p:cNvPicPr/>
          <p:nvPr/>
        </p:nvPicPr>
        <p:blipFill>
          <a:blip r:embed="rId1"/>
          <a:stretch/>
        </p:blipFill>
        <p:spPr>
          <a:xfrm>
            <a:off x="685800" y="1135440"/>
            <a:ext cx="3886200" cy="275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2" name=""/>
          <p:cNvPicPr/>
          <p:nvPr/>
        </p:nvPicPr>
        <p:blipFill>
          <a:blip r:embed="rId2"/>
          <a:stretch/>
        </p:blipFill>
        <p:spPr>
          <a:xfrm>
            <a:off x="4797360" y="1143000"/>
            <a:ext cx="3889440" cy="274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"/>
          <p:cNvPicPr/>
          <p:nvPr/>
        </p:nvPicPr>
        <p:blipFill>
          <a:blip r:embed="rId3"/>
          <a:stretch/>
        </p:blipFill>
        <p:spPr>
          <a:xfrm>
            <a:off x="685800" y="4114800"/>
            <a:ext cx="3886200" cy="228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4" name=""/>
          <p:cNvPicPr/>
          <p:nvPr/>
        </p:nvPicPr>
        <p:blipFill>
          <a:blip r:embed="rId4"/>
          <a:stretch/>
        </p:blipFill>
        <p:spPr>
          <a:xfrm>
            <a:off x="4750560" y="4114800"/>
            <a:ext cx="3936240" cy="228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228600" y="156240"/>
            <a:ext cx="10689480" cy="52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rgbClr val="111111"/>
                </a:solidFill>
                <a:effectLst/>
                <a:uFillTx/>
                <a:latin typeface="Trebuchet MS"/>
                <a:ea typeface="Noto Sans"/>
              </a:rPr>
              <a:t>Screenshot: Output</a:t>
            </a:r>
            <a:br>
              <a:rPr sz="3600"/>
            </a:b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6" name=""/>
          <p:cNvPicPr/>
          <p:nvPr/>
        </p:nvPicPr>
        <p:blipFill>
          <a:blip r:embed="rId1"/>
          <a:stretch/>
        </p:blipFill>
        <p:spPr>
          <a:xfrm>
            <a:off x="515520" y="1201320"/>
            <a:ext cx="4056480" cy="314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7" name=""/>
          <p:cNvPicPr/>
          <p:nvPr/>
        </p:nvPicPr>
        <p:blipFill>
          <a:blip r:embed="rId2"/>
          <a:stretch/>
        </p:blipFill>
        <p:spPr>
          <a:xfrm>
            <a:off x="4800600" y="1143000"/>
            <a:ext cx="4646880" cy="5486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8" name=""/>
          <p:cNvPicPr/>
          <p:nvPr/>
        </p:nvPicPr>
        <p:blipFill>
          <a:blip r:embed="rId3"/>
          <a:stretch/>
        </p:blipFill>
        <p:spPr>
          <a:xfrm>
            <a:off x="457200" y="4592160"/>
            <a:ext cx="4208760" cy="2037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74520" y="156240"/>
            <a:ext cx="8595720" cy="757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Trebuchet MS"/>
              </a:rPr>
              <a:t>Conclusion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667080" y="914400"/>
            <a:ext cx="8595720" cy="4571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Summary: Penguide is an educational agent that teaches Linux and kernel concepts through a safe, interactive CLI. It combines a Command-Line Interface Module, an Agent Reasoning Module, and a Policy and Security Module (with Shell Execution and Output Management reserved for later reviews) to provide explanations before executing any command.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Pedagogical value: Lowers the barrier to learning the command line and kernel by coupling “what to type” with “why it works,” in a guided loop of explanation, suggested command, and real output.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Trebuchet MS"/>
              </a:rPr>
              <a:t>Future work: Extend documentation coverage, add adaptive difficulty, and consider Shell Execution and Output Management modules in the next review phase.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Cloud Callout 3"/>
          <p:cNvSpPr/>
          <p:nvPr/>
        </p:nvSpPr>
        <p:spPr>
          <a:xfrm>
            <a:off x="2743200" y="5029200"/>
            <a:ext cx="4658400" cy="1273320"/>
          </a:xfrm>
          <a:prstGeom prst="cloudCallout">
            <a:avLst>
              <a:gd name="adj1" fmla="val -20833"/>
              <a:gd name="adj2" fmla="val 62500"/>
            </a:avLst>
          </a:prstGeom>
          <a:solidFill>
            <a:schemeClr val="lt1"/>
          </a:solidFill>
          <a:ln cap="rnd" w="19080">
            <a:solidFill>
              <a:srgbClr val="90C2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rebuchet MS"/>
                <a:ea typeface="DejaVu Sans"/>
              </a:rPr>
              <a:t>THANK YOU 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1342</TotalTime>
  <Application>LibreOffice/26.2.1.2$Linux_X86_64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2024-12-13T12:01:40Z</dcterms:created>
  <dc:creator>vishalrameshv13@gmail.com</dc:creator>
  <dc:description/>
  <dc:language>en-US</dc:language>
  <cp:lastModifiedBy/>
  <dcterms:modified xsi:type="dcterms:W3CDTF">2026-04-05T17:32:19Z</dcterms:modified>
  <cp:revision>18</cp:revision>
  <dc:subject/>
  <dc:title>INVEST MATCH AI CLOUD BASED   STARTUP AND INVESTOR   MATCHING PLATFORM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PresentationFormat">
    <vt:lpwstr>Widescreen</vt:lpwstr>
  </property>
  <property fmtid="{D5CDD505-2E9C-101B-9397-08002B2CF9AE}" pid="4" name="Slides">
    <vt:r8>13</vt:r8>
  </property>
</Properties>
</file>